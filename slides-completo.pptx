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GRUPO 3 · TRIBUNAL DAS COMUNIDADES TRADICIONAIS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 i="0">
                <a:solidFill>
                  <a:srgbClr val="1F2937"/>
                </a:solidFill>
                <a:latin typeface="Calibri"/>
              </a:rPr>
              <a:t>Comunidades
Ribeirinhas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1">
                <a:solidFill>
                  <a:srgbClr val="0D478A"/>
                </a:solidFill>
                <a:latin typeface="Calibri"/>
              </a:rPr>
              <a:t>"O rio é nossa casa, nossa fonte de vida e nossa identidade."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 bIns="177800"/>
          <a:lstStyle/>
          <a:p>
            <a:pPr algn="ctr"/>
            <a:r>
              <a:rPr sz="2400" b="1" i="0">
                <a:solidFill>
                  <a:srgbClr val="1565C0"/>
                </a:solidFill>
                <a:latin typeface="Calibri"/>
              </a:rPr>
              <a:t>01</a:t>
            </a:r>
          </a:p>
          <a:p>
            <a:r>
              <a:rPr sz="1400" b="1" i="0">
                <a:solidFill>
                  <a:srgbClr val="1F2937"/>
                </a:solidFill>
                <a:latin typeface="Calibri"/>
              </a:rPr>
              <a:t>Quem somos</a:t>
            </a:r>
          </a:p>
          <a:p>
            <a:r>
              <a:rPr sz="1200" b="0" i="0">
                <a:solidFill>
                  <a:srgbClr val="6B7278"/>
                </a:solidFill>
                <a:latin typeface="Calibri"/>
              </a:rPr>
              <a:t>Famílias que vivem às margens do Rio Água Boa, entre pesca artesanal, extrativismo e agricultura de várzea, há gerações.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657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 bIns="177800"/>
          <a:lstStyle/>
          <a:p>
            <a:pPr algn="ctr"/>
            <a:r>
              <a:rPr sz="2400" b="1" i="0">
                <a:solidFill>
                  <a:srgbClr val="1565C0"/>
                </a:solidFill>
                <a:latin typeface="Calibri"/>
              </a:rPr>
              <a:t>02</a:t>
            </a:r>
          </a:p>
          <a:p>
            <a:r>
              <a:rPr sz="1400" b="1" i="0">
                <a:solidFill>
                  <a:srgbClr val="1F2937"/>
                </a:solidFill>
                <a:latin typeface="Calibri"/>
              </a:rPr>
              <a:t>Nosso território</a:t>
            </a:r>
          </a:p>
          <a:p>
            <a:r>
              <a:rPr sz="1200" b="0" i="0">
                <a:solidFill>
                  <a:srgbClr val="6B7278"/>
                </a:solidFill>
                <a:latin typeface="Calibri"/>
              </a:rPr>
              <a:t>O rio é estrada, alimento e identidade — o ciclo de cheia e vazante organiza toda a nossa vida e nossa economia.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3657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 bIns="177800"/>
          <a:lstStyle/>
          <a:p>
            <a:pPr algn="ctr"/>
            <a:r>
              <a:rPr sz="2400" b="1" i="0">
                <a:solidFill>
                  <a:srgbClr val="1565C0"/>
                </a:solidFill>
                <a:latin typeface="Calibri"/>
              </a:rPr>
              <a:t>03</a:t>
            </a:r>
          </a:p>
          <a:p>
            <a:r>
              <a:rPr sz="1400" b="1" i="0">
                <a:solidFill>
                  <a:srgbClr val="1F2937"/>
                </a:solidFill>
                <a:latin typeface="Calibri"/>
              </a:rPr>
              <a:t>O que defendemos</a:t>
            </a:r>
          </a:p>
          <a:p>
            <a:r>
              <a:rPr sz="1200" b="0" i="0">
                <a:solidFill>
                  <a:srgbClr val="6B7278"/>
                </a:solidFill>
                <a:latin typeface="Calibri"/>
              </a:rPr>
              <a:t>Consulta prévia, estudo de impacto ambiental independente e preservação do rio antes de qualquer decisão.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2801600" cy="9144"/>
          </a:xfrm>
          <a:prstGeom prst="roundRect">
            <a:avLst/>
          </a:prstGeom>
          <a:solidFill>
            <a:srgbClr val="D9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B7278"/>
                </a:solidFill>
                <a:latin typeface="Calibri"/>
              </a:rPr>
              <a:t>SITUAÇÃO-PROBLEMA</a:t>
            </a:r>
          </a:p>
          <a:p>
            <a:r>
              <a:rPr sz="1300" b="0" i="0">
                <a:solidFill>
                  <a:srgbClr val="1F2937"/>
                </a:solidFill>
                <a:latin typeface="Calibri"/>
              </a:rPr>
              <a:t>Um empreendimento pretende se instalar no território do Rio Água Boa, ameaçando o equilíbrio ambiental e o modo de vida ribeirinho.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COMUNIDADES RIBEIRINHAS · TRIBUNAL DAS COMUNIDADES TRADICIONAIS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1887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203200" bIns="203200"/>
          <a:lstStyle/>
          <a:p>
            <a:pPr algn="ctr"/>
            <a:r>
              <a:rPr sz="1100" b="1" i="0">
                <a:solidFill>
                  <a:srgbClr val="1565C0"/>
                </a:solidFill>
                <a:latin typeface="Calibri"/>
              </a:rPr>
              <a:t>PERGUNTA</a:t>
            </a:r>
          </a:p>
          <a:p>
            <a:r>
              <a:rPr sz="3600" b="1" i="0">
                <a:solidFill>
                  <a:srgbClr val="1F2937"/>
                </a:solidFill>
                <a:latin typeface="Calibri"/>
              </a:rPr>
              <a:t>Quem somos?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1887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228600" bIns="177800"/>
          <a:lstStyle/>
          <a:p>
            <a:pPr algn="ctr"/>
            <a:r>
              <a:rPr sz="1100" b="1" i="0">
                <a:solidFill>
                  <a:srgbClr val="6B7278"/>
                </a:solidFill>
                <a:latin typeface="Calibri"/>
              </a:rPr>
              <a:t>RESPOSTA</a:t>
            </a:r>
          </a:p>
          <a:p>
            <a:r>
              <a:rPr sz="1600" b="0" i="0">
                <a:solidFill>
                  <a:srgbClr val="1F2937"/>
                </a:solidFill>
                <a:latin typeface="Calibri"/>
              </a:rPr>
              <a:t>Somos famílias ribeirinhas que habitam as margens do Rio Água Boa há mais de um século. Nossa comunidade é formada por pescadores artesanais, extrativistas, agricultores de várzea e artesãos que dependem diretamente dos recursos do rio para viver.</a:t>
            </a:r>
          </a:p>
          <a:p>
            <a:r>
              <a:rPr sz="1600" b="0" i="0">
                <a:solidFill>
                  <a:srgbClr val="1F2937"/>
                </a:solidFill>
                <a:latin typeface="Calibri"/>
              </a:rPr>
              <a:t>Nossa identidade é construída na relação de respeito e pertencimento com as águas. O saber tradicional é transmitido de geração em geração — os mais velhos ensinam a ler os sinais da natureza, os períodos de cheia e vazante, e as técnicas de pesca que não esgotam os recursos.</a:t>
            </a:r>
          </a:p>
          <a:p>
            <a:r>
              <a:rPr sz="1600" b="0" i="0">
                <a:solidFill>
                  <a:srgbClr val="1F2937"/>
                </a:solidFill>
                <a:latin typeface="Calibri"/>
              </a:rPr>
              <a:t>Não somos moradores da beira do rio: somos o próprio rio em forma de gente.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COMUNIDADES RIBEIRINHAS · TRIBUNAL DAS COMUNIDADES TRADICIONAIS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1887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203200" bIns="203200"/>
          <a:lstStyle/>
          <a:p>
            <a:pPr algn="ctr"/>
            <a:r>
              <a:rPr sz="1100" b="1" i="0">
                <a:solidFill>
                  <a:srgbClr val="1565C0"/>
                </a:solidFill>
                <a:latin typeface="Calibri"/>
              </a:rPr>
              <a:t>PERGUNTA</a:t>
            </a:r>
          </a:p>
          <a:p>
            <a:r>
              <a:rPr sz="3600" b="1" i="0">
                <a:solidFill>
                  <a:srgbClr val="1F2937"/>
                </a:solidFill>
                <a:latin typeface="Calibri"/>
              </a:rPr>
              <a:t>Como vivemos?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1887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177800"/>
          <a:lstStyle/>
          <a:p>
            <a:pPr algn="ctr"/>
            <a:r>
              <a:rPr sz="1100" b="1" i="0">
                <a:solidFill>
                  <a:srgbClr val="6B7278"/>
                </a:solidFill>
                <a:latin typeface="Calibri"/>
              </a:rPr>
              <a:t>RESPOSTA</a:t>
            </a:r>
          </a:p>
          <a:p>
            <a:r>
              <a:rPr sz="1600" b="0" i="0">
                <a:solidFill>
                  <a:srgbClr val="1F2937"/>
                </a:solidFill>
                <a:latin typeface="Calibri"/>
              </a:rPr>
              <a:t>Nosso modo de vida é organizado pelo ritmo do rio. Na cheia, os peixes se reproduzem e as áreas de várzea são fertilizadas; na vazante, plantamos e colhemos. Cada estação tem seu trabalho, sua comida e sua festa.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5669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03200" tIns="177800" bIns="101600"/>
          <a:lstStyle/>
          <a:p>
            <a:pPr algn="ctr"/>
            <a:r>
              <a:rPr sz="1500" b="1" i="0">
                <a:solidFill>
                  <a:srgbClr val="1565C0"/>
                </a:solidFill>
                <a:latin typeface="Calibri"/>
              </a:rPr>
              <a:t>Pesca artesanal: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peixes como curimatã, tambaqui e tucunaré sustentam nossa alimentação e geram renda nas feiras da cidade.</a:t>
            </a:r>
          </a:p>
          <a:p>
            <a:r>
              <a:rPr sz="1500" b="1" i="0">
                <a:solidFill>
                  <a:srgbClr val="1565C0"/>
                </a:solidFill>
                <a:latin typeface="Calibri"/>
              </a:rPr>
              <a:t>Agricultura de várzea: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plantamos mandioca, milho, feijão e frutas nas terras férteis que o rio renova a cada enchente.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3566160"/>
            <a:ext cx="5669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03200" tIns="177800" bIns="101600"/>
          <a:lstStyle/>
          <a:p>
            <a:pPr algn="ctr"/>
            <a:r>
              <a:rPr sz="1500" b="1" i="0">
                <a:solidFill>
                  <a:srgbClr val="1565C0"/>
                </a:solidFill>
                <a:latin typeface="Calibri"/>
              </a:rPr>
              <a:t>Extrativismo: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coletamos açaí, borracha, castanha e plantas medicinais da floresta alagável.</a:t>
            </a:r>
          </a:p>
          <a:p>
            <a:r>
              <a:rPr sz="1500" b="1" i="0">
                <a:solidFill>
                  <a:srgbClr val="1565C0"/>
                </a:solidFill>
                <a:latin typeface="Calibri"/>
              </a:rPr>
              <a:t>Artesanato: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com cipó, palha e barro, criamos peças que carregam nossa cultura e nossa história.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COMUNIDADES RIBEIRINHAS · TRIBUNAL DAS COMUNIDADES TRADICIONAIS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1887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203200" bIns="203200"/>
          <a:lstStyle/>
          <a:p>
            <a:pPr algn="ctr"/>
            <a:r>
              <a:rPr sz="1100" b="1" i="0">
                <a:solidFill>
                  <a:srgbClr val="1565C0"/>
                </a:solidFill>
                <a:latin typeface="Calibri"/>
              </a:rPr>
              <a:t>PERGUNTA</a:t>
            </a:r>
          </a:p>
          <a:p>
            <a:r>
              <a:rPr sz="3600" b="1" i="0">
                <a:solidFill>
                  <a:srgbClr val="1F2937"/>
                </a:solidFill>
                <a:latin typeface="Calibri"/>
              </a:rPr>
              <a:t>Qual a importância do território para nós?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1887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177800"/>
          <a:lstStyle/>
          <a:p>
            <a:pPr algn="ctr"/>
            <a:r>
              <a:rPr sz="1100" b="1" i="0">
                <a:solidFill>
                  <a:srgbClr val="6B7278"/>
                </a:solidFill>
                <a:latin typeface="Calibri"/>
              </a:rPr>
              <a:t>RESPOSTA</a:t>
            </a:r>
          </a:p>
          <a:p>
            <a:r>
              <a:rPr sz="1600" b="0" i="0">
                <a:solidFill>
                  <a:srgbClr val="1F2937"/>
                </a:solidFill>
                <a:latin typeface="Calibri"/>
              </a:rPr>
              <a:t>O território não é apenas o lugar onde moramos — é a condição de existência da nossa comunidade. Sem o Rio Água Boa em equilíbrio, nossa cultura, nossa economia e nossa identidade simplesmente deixam de existir.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5669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03200" tIns="177800" bIns="101600"/>
          <a:lstStyle/>
          <a:p>
            <a:pPr algn="ctr"/>
            <a:r>
              <a:rPr sz="1500" b="1" i="0">
                <a:solidFill>
                  <a:srgbClr val="1565C0"/>
                </a:solidFill>
                <a:latin typeface="Calibri"/>
              </a:rPr>
              <a:t>Identidade cultural: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as narrativas, os saberes, as festas e as crenças da nossa comunidade nascem da relação com o rio.</a:t>
            </a:r>
          </a:p>
          <a:p>
            <a:r>
              <a:rPr sz="1500" b="1" i="0">
                <a:solidFill>
                  <a:srgbClr val="1565C0"/>
                </a:solidFill>
                <a:latin typeface="Calibri"/>
              </a:rPr>
              <a:t>Sobrevivência material: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é do território que tiramos nossa comida, nossa água, nossa moradia e nossa renda.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3566160"/>
            <a:ext cx="5669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03200" tIns="177800" bIns="101600"/>
          <a:lstStyle/>
          <a:p>
            <a:pPr algn="ctr"/>
            <a:r>
              <a:rPr sz="1500" b="1" i="0">
                <a:solidFill>
                  <a:srgbClr val="1565C0"/>
                </a:solidFill>
                <a:latin typeface="Calibri"/>
              </a:rPr>
              <a:t>Território como sujeito: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para nós, o rio não é um recurso a ser explorado — é um ente vivo com o qual nos relacionamos.</a:t>
            </a:r>
          </a:p>
          <a:p>
            <a:r>
              <a:rPr sz="1500" b="1" i="0">
                <a:solidFill>
                  <a:srgbClr val="1565C0"/>
                </a:solidFill>
                <a:latin typeface="Calibri"/>
              </a:rPr>
              <a:t>Direito constitucional: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a Constituição Federal de 1988 garante às comunidades tradicionais o direito ao território.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COMUNIDADES RIBEIRINHAS · TRIBUNAL DAS COMUNIDADES TRADICIONAIS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1887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203200" bIns="203200"/>
          <a:lstStyle/>
          <a:p>
            <a:pPr algn="ctr"/>
            <a:r>
              <a:rPr sz="1100" b="1" i="0">
                <a:solidFill>
                  <a:srgbClr val="1565C0"/>
                </a:solidFill>
                <a:latin typeface="Calibri"/>
              </a:rPr>
              <a:t>PERGUNTA</a:t>
            </a:r>
          </a:p>
          <a:p>
            <a:r>
              <a:rPr sz="3600" b="1" i="0">
                <a:solidFill>
                  <a:srgbClr val="1F2937"/>
                </a:solidFill>
                <a:latin typeface="Calibri"/>
              </a:rPr>
              <a:t>Benefícios e prejuízos do projeto?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669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03200" tIns="228600"/>
          <a:lstStyle/>
          <a:p>
            <a:pPr algn="ctr"/>
            <a:r>
              <a:rPr sz="1600" b="1" i="0">
                <a:solidFill>
                  <a:srgbClr val="2E7D32"/>
                </a:solidFill>
                <a:latin typeface="Calibri"/>
              </a:rPr>
              <a:t>Possíveis benefícios (segundo a empresa)</a:t>
            </a:r>
          </a:p>
          <a:p>
            <a:r>
              <a:rPr sz="1400" b="0" i="0">
                <a:solidFill>
                  <a:srgbClr val="1F2937"/>
                </a:solidFill>
                <a:latin typeface="Calibri"/>
              </a:rPr>
              <a:t>→ Geração de empregos temporários na construção civil e serviços locais.</a:t>
            </a:r>
          </a:p>
          <a:p>
            <a:r>
              <a:rPr sz="1400" b="0" i="0">
                <a:solidFill>
                  <a:srgbClr val="1F2937"/>
                </a:solidFill>
                <a:latin typeface="Calibri"/>
              </a:rPr>
              <a:t>→ Aumento da arrecadação municipal e promessa de investimentos em infraestrutura.</a:t>
            </a:r>
          </a:p>
          <a:p>
            <a:r>
              <a:rPr sz="1400" b="0" i="0">
                <a:solidFill>
                  <a:srgbClr val="1F2937"/>
                </a:solidFill>
                <a:latin typeface="Calibri"/>
              </a:rPr>
              <a:t>→ Demanda por produtos e serviços locais durante a operação.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2194560"/>
            <a:ext cx="5669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03200" tIns="228600"/>
          <a:lstStyle/>
          <a:p>
            <a:pPr algn="ctr"/>
            <a:r>
              <a:rPr sz="1600" b="1" i="0">
                <a:solidFill>
                  <a:srgbClr val="C62828"/>
                </a:solidFill>
                <a:latin typeface="Calibri"/>
              </a:rPr>
              <a:t>Prejuízos comprovados (nossa perspectiva)</a:t>
            </a:r>
          </a:p>
          <a:p>
            <a:r>
              <a:rPr sz="1400" b="0" i="0">
                <a:solidFill>
                  <a:srgbClr val="1F2937"/>
                </a:solidFill>
                <a:latin typeface="Calibri"/>
              </a:rPr>
              <a:t>→ Poluição do Rio Água Boa por rejeitos industriais, comprometendo a pesca e o abastecimento de água.</a:t>
            </a:r>
          </a:p>
          <a:p>
            <a:r>
              <a:rPr sz="1400" b="0" i="0">
                <a:solidFill>
                  <a:srgbClr val="1F2937"/>
                </a:solidFill>
                <a:latin typeface="Calibri"/>
              </a:rPr>
              <a:t>→ Deslocamento forçado de famílias e destruição de áreas de várzea férteis para plantio.</a:t>
            </a:r>
          </a:p>
          <a:p>
            <a:r>
              <a:rPr sz="1400" b="0" i="0">
                <a:solidFill>
                  <a:srgbClr val="1F2937"/>
                </a:solidFill>
                <a:latin typeface="Calibri"/>
              </a:rPr>
              <a:t>→ Rompimento dos laços comunitários e da transmissão de saberes tradicionais.</a:t>
            </a:r>
          </a:p>
          <a:p>
            <a:r>
              <a:rPr sz="1400" b="0" i="0">
                <a:solidFill>
                  <a:srgbClr val="1F2937"/>
                </a:solidFill>
                <a:latin typeface="Calibri"/>
              </a:rPr>
              <a:t>→ Empregos temporários e de baixa qualificação — o lucro vai para acionistas, o passivo ambiental fica conosco.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COMUNIDADES RIBEIRINHAS · TRIBUNAL DAS COMUNIDADES TRADICIONAIS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1887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203200" bIns="203200"/>
          <a:lstStyle/>
          <a:p>
            <a:pPr algn="ctr"/>
            <a:r>
              <a:rPr sz="1100" b="1" i="0">
                <a:solidFill>
                  <a:srgbClr val="1565C0"/>
                </a:solidFill>
                <a:latin typeface="Calibri"/>
              </a:rPr>
              <a:t>PERGUNTA</a:t>
            </a:r>
          </a:p>
          <a:p>
            <a:r>
              <a:rPr sz="3600" b="1" i="0">
                <a:solidFill>
                  <a:srgbClr val="1F2937"/>
                </a:solidFill>
                <a:latin typeface="Calibri"/>
              </a:rPr>
              <a:t>O que defendemos?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18872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203200" bIns="127000"/>
          <a:lstStyle/>
          <a:p>
            <a:pPr algn="ctr"/>
            <a:r>
              <a:rPr sz="1700" b="0" i="1">
                <a:solidFill>
                  <a:srgbClr val="1565C0"/>
                </a:solidFill>
                <a:latin typeface="Calibri"/>
              </a:rPr>
              <a:t>"Não somos contra o desenvolvimento, mas contra um desenvolvimento que nos exclui e destrói o que somos."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5669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03200" tIns="177800"/>
          <a:lstStyle/>
          <a:p>
            <a:pPr algn="ctr"/>
            <a:r>
              <a:rPr sz="1500" b="1" i="0">
                <a:solidFill>
                  <a:srgbClr val="1565C0"/>
                </a:solidFill>
                <a:latin typeface="Calibri"/>
              </a:rPr>
              <a:t>Consulta prévia, livre e informada: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Convenção 169 da OIT, da qual o Brasil é signatário.</a:t>
            </a:r>
          </a:p>
          <a:p>
            <a:r>
              <a:rPr sz="1500" b="1" i="0">
                <a:solidFill>
                  <a:srgbClr val="1565C0"/>
                </a:solidFill>
                <a:latin typeface="Calibri"/>
              </a:rPr>
              <a:t>EIA independente: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Estudo de Impacto Ambiental por equipe escolhida em acordo com a comunidade.</a:t>
            </a:r>
          </a:p>
          <a:p>
            <a:r>
              <a:rPr sz="1500" b="1" i="0">
                <a:solidFill>
                  <a:srgbClr val="1565C0"/>
                </a:solidFill>
                <a:latin typeface="Calibri"/>
              </a:rPr>
              <a:t>Preservação do Rio Água Boa: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ciclo hidrológico, qualidade da água e estoques pesqueiros.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3291840"/>
            <a:ext cx="5669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03200" tIns="177800"/>
          <a:lstStyle/>
          <a:p>
            <a:pPr algn="ctr"/>
            <a:r>
              <a:rPr sz="1500" b="1" i="0">
                <a:solidFill>
                  <a:srgbClr val="1565C0"/>
                </a:solidFill>
                <a:latin typeface="Calibri"/>
              </a:rPr>
              <a:t>Participação nos benefícios: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compensação justa e participação nos resultados se o projeto for viável.</a:t>
            </a:r>
          </a:p>
          <a:p>
            <a:r>
              <a:rPr sz="1500" b="1" i="0">
                <a:solidFill>
                  <a:srgbClr val="1565C0"/>
                </a:solidFill>
                <a:latin typeface="Calibri"/>
              </a:rPr>
              <a:t>Nenhuma remoção forçada: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o território ribeirinho é nossa casa e não será negociado sob pressão.</a:t>
            </a:r>
          </a:p>
          <a:p>
            <a:r>
              <a:rPr sz="1500" b="1" i="0">
                <a:solidFill>
                  <a:srgbClr val="1565C0"/>
                </a:solidFill>
                <a:latin typeface="Calibri"/>
              </a:rPr>
              <a:t>Fiscalização permanente: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participação da comunidade no monitoramento ambiental contínuo.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